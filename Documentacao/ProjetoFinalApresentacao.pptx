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7" r:id="rId2"/>
    <p:sldId id="258" r:id="rId3"/>
    <p:sldId id="260" r:id="rId4"/>
    <p:sldId id="261" r:id="rId5"/>
    <p:sldId id="265" r:id="rId6"/>
    <p:sldId id="262" r:id="rId7"/>
    <p:sldId id="263" r:id="rId8"/>
    <p:sldId id="266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A0BBAF-31A5-4C6F-BFAD-2B6E977FF03E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D0757F-1C7E-406F-9493-03845FD1C85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995052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solução proposta é composta por três camadas principais. A primeira é o hardware de aquisição, responsável pela coleta dos dados elétricos. A segunda é o firmware embarcado, que gerencia sensores, tarefas e comunicação. A terceira camada é a IoT, responsável pelo envio, armazenamento e visualização dos dados.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757F-1C7E-406F-9493-03845FD1C85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1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 sistema utiliza a placa </a:t>
            </a:r>
            <a:r>
              <a:rPr lang="pt-BR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BitDogLab</a:t>
            </a:r>
            <a:r>
              <a:rPr lang="pt-B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baseada no Raspberry Pi Pico W, que oferece capacidade de processamento e conectividade Wi-Fi integrada. Para a medição de energia elétrica, foi utilizado o módulo PZEM-004T versão 4.0, capaz de medir tensão, corrente, potência e energia acumulada. O sistema também conta com sensores auxiliares e um display para visualização local.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757F-1C7E-406F-9493-03845FD1C85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732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 firmware foi desenvolvido em linguagem C utilizando o SDK oficial do Raspberry Pi Pico W e o sistema operacional FreeRTOS. A aplicação é dividida em tarefas independentes, responsáveis pela leitura dos sensores, atualização da interface gráfica e envio dos dados via MQTT. Essa abordagem garante modularidade, organização e facilidade de manutenção.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757F-1C7E-406F-9493-03845FD1C85A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8515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servidor web executa como uma tarefa dedicada do FreeRTOS, sendo responsável por atender requisições HTTP, disponibilizar páginas HTML estáticas e fornecer dados dinâmicos no formato JSON. Por meio dessa interface, o usuário pode visualizar em tempo real as grandezas elétricas e ambientais, além de realizar configurações do sistema, como ajuste de data e hora do RTC e gerenciamento das credenciais de acesso.</a:t>
            </a:r>
          </a:p>
          <a:p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 garantir a segurança do acesso, o servidor web implementa um mecanismo de autenticação baseado em usuário e senha, associado a um controle de sessão com tempo de expiração. Dessa forma, somente usuários autenticados podem acessar as páginas de configuração e os </a:t>
            </a:r>
            <a:r>
              <a:rPr lang="pt-B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endpoints</a:t>
            </a: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dados sensíveis.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757F-1C7E-406F-9493-03845FD1C85A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287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comunicação com a nuvem é realizada por meio do protocolo MQTT, amplamente utilizado em aplicações IoT. Os dados coletados são enviados periodicamente via Wi-Fi, permitindo o acompanhamento remoto em tempo real e a criação de históricos de consumo.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D0757F-1C7E-406F-9493-03845FD1C85A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0515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63083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9916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006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806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53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1926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713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1990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9299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305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2441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4339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43944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8402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390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734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6415E-DDA8-44DF-893F-1DA27FFD0F8B}" type="datetimeFigureOut">
              <a:rPr lang="pt-BR" smtClean="0"/>
              <a:t>24/01/2026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A95B987-FF0A-4E36-8185-FCD2E94E066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605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B5523-AD48-1A49-FFCC-6667B7E51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54424"/>
          </a:xfrm>
        </p:spPr>
        <p:txBody>
          <a:bodyPr/>
          <a:lstStyle/>
          <a:p>
            <a:r>
              <a:rPr lang="pt-BR" dirty="0"/>
              <a:t>Objetivo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069767-F342-E46E-DE30-6949EB4C5F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981" y="2489970"/>
            <a:ext cx="8596668" cy="1878059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8600" dirty="0"/>
              <a:t>Desenvolver um sistema embarcado com conectividade Wi-Fi capaz de monitorar variáveis ambientais e grandezas elétricas, utilizando arquitetura multitarefa e comunicação com plataforma IoT.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22793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74072-BBB7-C6F0-B636-266A0E99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Objetivos Específicos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E96133-8C91-178D-8434-EF1A38875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Implementar firmware em linguagem C utilizando o SDK oficial da Raspberry Pi Pico W;</a:t>
            </a:r>
          </a:p>
          <a:p>
            <a:pPr lvl="0"/>
            <a:r>
              <a:rPr lang="pt-BR" dirty="0"/>
              <a:t>Utilizar o sistema operacional FreeRTOS para gerenciamento das tarefas;</a:t>
            </a:r>
          </a:p>
          <a:p>
            <a:pPr lvl="0"/>
            <a:r>
              <a:rPr lang="pt-BR" dirty="0"/>
              <a:t>Integrar sensores ambientais de temperatura, umidade e luminosidade;</a:t>
            </a:r>
          </a:p>
          <a:p>
            <a:pPr lvl="0"/>
            <a:r>
              <a:rPr lang="pt-BR" dirty="0"/>
              <a:t>Implementar a leitura de grandezas elétricas por meio de protocolo </a:t>
            </a:r>
            <a:r>
              <a:rPr lang="pt-BR" dirty="0" err="1"/>
              <a:t>Modbus</a:t>
            </a:r>
            <a:r>
              <a:rPr lang="pt-BR" dirty="0"/>
              <a:t> RTU;</a:t>
            </a:r>
          </a:p>
          <a:p>
            <a:pPr lvl="0"/>
            <a:r>
              <a:rPr lang="pt-BR" dirty="0"/>
              <a:t>Exibir informações em tempo real em um display gráfico;</a:t>
            </a:r>
          </a:p>
          <a:p>
            <a:pPr lvl="0"/>
            <a:r>
              <a:rPr lang="pt-BR" dirty="0"/>
              <a:t>Estabelecer comunicação Wi-Fi estável;</a:t>
            </a:r>
          </a:p>
          <a:p>
            <a:pPr lvl="0"/>
            <a:r>
              <a:rPr lang="pt-BR" dirty="0"/>
              <a:t>Implementar comunicação MQTT;</a:t>
            </a:r>
          </a:p>
          <a:p>
            <a:pPr lvl="0"/>
            <a:r>
              <a:rPr lang="pt-BR" dirty="0"/>
              <a:t>Validar o funcionamento do sistema por meio de testes práticos.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72995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08D53-2619-A22E-7693-D6CAE0ACB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Hardware – Diagrama de blocos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4D403DE-D820-A6E4-F1B7-4CB0F8E6B0EF}"/>
              </a:ext>
            </a:extLst>
          </p:cNvPr>
          <p:cNvSpPr txBox="1"/>
          <p:nvPr/>
        </p:nvSpPr>
        <p:spPr>
          <a:xfrm>
            <a:off x="806824" y="1362635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hardware é composto por uma Raspberry Pi Pico W como unidade central de processamento, sensores ambientais para medição de temperatura, umidade e luminosidade, um módulo de medição de energia elétrica, um display gráfico.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3DAE1C1-9390-79E9-A00D-88A44B822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74478" y="2979270"/>
            <a:ext cx="4402380" cy="2775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492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20FF43-BADF-801A-F141-1A5F383E4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Hardware - Esquemático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CCB5BE30-EC3A-30D2-BAD6-52DCE842F5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1080" y="2562964"/>
            <a:ext cx="5529175" cy="3881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43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A1F86-92A3-3329-DCA0-E31BFD1D2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Hardware - Montagem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B0CE097-BB2E-DD6F-1992-F8EC69DCC5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 rot="16200000">
            <a:off x="2388500" y="-262115"/>
            <a:ext cx="5174336" cy="8238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78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7ACE35-97B2-742A-223A-F22ED8BDD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Firmware</a:t>
            </a: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08F40551-6715-9F77-A64A-C3F9894C89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9343403"/>
              </p:ext>
            </p:extLst>
          </p:nvPr>
        </p:nvGraphicFramePr>
        <p:xfrm>
          <a:off x="677863" y="2438400"/>
          <a:ext cx="8596311" cy="394708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52961">
                  <a:extLst>
                    <a:ext uri="{9D8B030D-6E8A-4147-A177-3AD203B41FA5}">
                      <a16:colId xmlns:a16="http://schemas.microsoft.com/office/drawing/2014/main" val="412625090"/>
                    </a:ext>
                  </a:extLst>
                </a:gridCol>
                <a:gridCol w="1335741">
                  <a:extLst>
                    <a:ext uri="{9D8B030D-6E8A-4147-A177-3AD203B41FA5}">
                      <a16:colId xmlns:a16="http://schemas.microsoft.com/office/drawing/2014/main" val="14780081"/>
                    </a:ext>
                  </a:extLst>
                </a:gridCol>
                <a:gridCol w="5607609">
                  <a:extLst>
                    <a:ext uri="{9D8B030D-6E8A-4147-A177-3AD203B41FA5}">
                      <a16:colId xmlns:a16="http://schemas.microsoft.com/office/drawing/2014/main" val="803594250"/>
                    </a:ext>
                  </a:extLst>
                </a:gridCol>
              </a:tblGrid>
              <a:tr h="39193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100">
                          <a:effectLst/>
                        </a:rPr>
                        <a:t>Módulo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100" dirty="0">
                          <a:effectLst/>
                        </a:rPr>
                        <a:t>Arquivo / Diretório</a:t>
                      </a:r>
                      <a:endParaRPr lang="pt-B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100" dirty="0">
                          <a:effectLst/>
                        </a:rPr>
                        <a:t>Responsabilidade</a:t>
                      </a:r>
                      <a:endParaRPr lang="pt-B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4422514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Inicialização do Sistema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main.c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 dirty="0">
                          <a:effectLst/>
                        </a:rPr>
                        <a:t>Configuração do hardware, inicialização do FreeRTOS, criação das tarefas e início do escalonador.</a:t>
                      </a:r>
                      <a:endParaRPr lang="pt-B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0602545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Gerenciamento de Estado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 dirty="0" err="1">
                          <a:effectLst/>
                        </a:rPr>
                        <a:t>system_state.c</a:t>
                      </a:r>
                      <a:r>
                        <a:rPr lang="pt-BR" sz="800" dirty="0">
                          <a:effectLst/>
                        </a:rPr>
                        <a:t>/.h</a:t>
                      </a:r>
                      <a:endParaRPr lang="pt-B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Armazena e fornece acesso controlado ao estado global do sistema, incluindo dados ambientais e elétricos.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17648479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Sensores Ambientais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lib/sensors/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Implementa drivers e rotinas de leitura dos sensores de temperatura, umidade e luminosidade via I2C.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6522214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Medição de Energia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lib/pzem004t/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Implementa a comunicação Modbus RTU com o módulo PZEM-004T para aquisição de grandezas elétricas.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27851219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Display Gráfico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lib/display/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Controla a interface gráfica local, realizando a renderização das informações no display.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6376230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Comunicação MQTT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lib/mqtt_manager/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Gerencia a conexão Wi-Fi, serialização dos dados e publicação no broker MQTT.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19745416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Servidor Web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webserver_task.c/.h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Implementa o servidor HTTP embarcado, páginas HTML, autenticação, controle de sessão e endpoints REST-like.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8852791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Autenticação e Segurança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auth_storage.c/.h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Gerencia credenciais de acesso, realizando hash SHA-256 e armazenamento seguro na EEPROM do RTC.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7081667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Criptografia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sha256.c/.h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Implementa o algoritmo criptográfico SHA-256 utilizado para proteção das senhas.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24917148"/>
                  </a:ext>
                </a:extLst>
              </a:tr>
              <a:tr h="35551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RTC e EEPROM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>
                          <a:effectLst/>
                        </a:rPr>
                        <a:t>rtc_service.c/.h</a:t>
                      </a:r>
                      <a:endParaRPr lang="pt-BR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800" dirty="0">
                          <a:effectLst/>
                        </a:rPr>
                        <a:t>Controla data e hora do sistema e armazenamento persistente de dados críticos na EEPROM do módulo RTC.</a:t>
                      </a:r>
                      <a:endParaRPr lang="pt-BR" sz="11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6164362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1DF4D451-67BB-B957-474A-47867000E12E}"/>
              </a:ext>
            </a:extLst>
          </p:cNvPr>
          <p:cNvSpPr txBox="1"/>
          <p:nvPr/>
        </p:nvSpPr>
        <p:spPr>
          <a:xfrm>
            <a:off x="677334" y="1191736"/>
            <a:ext cx="844924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dirty="0"/>
              <a:t>O firmware foi estruturado seguindo uma abordagem modular, na qual cada funcionalidade do sistema é encapsulada em módulos independentes. Essa organização permite maior facilidade de manutenção, reutilização de código e expansão futura do sistema.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7985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C3727-011E-2112-F025-A07EDD28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Servidor WEB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9772A5C0-E4FB-B83F-5E8C-7CEF2BA475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334" y="3609490"/>
            <a:ext cx="8596312" cy="250763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4B40955-1168-96F9-5047-8D63B281D6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845" y="2021840"/>
            <a:ext cx="1685290" cy="140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1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C66393-C4BB-3A13-9490-65CFB890F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IoT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87F3B6ED-FA6F-74F6-8F85-CA61020BC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77690" y="2512536"/>
            <a:ext cx="8596312" cy="366161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888D3AC-ADA2-03D9-E2C7-F8ADADC8813C}"/>
              </a:ext>
            </a:extLst>
          </p:cNvPr>
          <p:cNvSpPr txBox="1"/>
          <p:nvPr/>
        </p:nvSpPr>
        <p:spPr>
          <a:xfrm>
            <a:off x="677334" y="1191736"/>
            <a:ext cx="8449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camada IoT é responsável pela transmissão dos dados coletados para a nuvem, utilizando o protocolo MQTT. Os dados são publicados periodicamente em tópicos específicos, permitindo sua visualização em dashboards e armazenamento para análise histórica.</a:t>
            </a:r>
          </a:p>
        </p:txBody>
      </p:sp>
    </p:spTree>
    <p:extLst>
      <p:ext uri="{BB962C8B-B14F-4D97-AF65-F5344CB8AC3E}">
        <p14:creationId xmlns:p14="http://schemas.microsoft.com/office/powerpoint/2010/main" val="27772233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7F272D-418A-50C4-DFF5-98E77CEDC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Funcionamento</a:t>
            </a:r>
          </a:p>
        </p:txBody>
      </p:sp>
      <p:pic>
        <p:nvPicPr>
          <p:cNvPr id="2052" name="Imagem 1">
            <a:extLst>
              <a:ext uri="{FF2B5EF4-FFF2-40B4-BE49-F238E27FC236}">
                <a16:creationId xmlns:a16="http://schemas.microsoft.com/office/drawing/2014/main" id="{C24FF3D6-D3F4-0782-AEE3-87D384BD0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02" y="1484487"/>
            <a:ext cx="3279950" cy="245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Imagem 3">
            <a:extLst>
              <a:ext uri="{FF2B5EF4-FFF2-40B4-BE49-F238E27FC236}">
                <a16:creationId xmlns:a16="http://schemas.microsoft.com/office/drawing/2014/main" id="{26DCCB84-8C51-A1CB-9C67-6D0553B69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6" y="1484487"/>
            <a:ext cx="3275009" cy="245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Imagem 4">
            <a:extLst>
              <a:ext uri="{FF2B5EF4-FFF2-40B4-BE49-F238E27FC236}">
                <a16:creationId xmlns:a16="http://schemas.microsoft.com/office/drawing/2014/main" id="{22EC5A63-D55F-8272-E72E-EBFA7FEC3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5902" y="4018904"/>
            <a:ext cx="3279950" cy="2459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Imagem 5">
            <a:extLst>
              <a:ext uri="{FF2B5EF4-FFF2-40B4-BE49-F238E27FC236}">
                <a16:creationId xmlns:a16="http://schemas.microsoft.com/office/drawing/2014/main" id="{5F93D88E-CA29-B628-B203-C4EF0DA7E6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276" y="4024406"/>
            <a:ext cx="3272615" cy="245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DBB8A8C-519C-A16E-DD30-8446B5239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98612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08BCDF9-419A-CE3C-B999-CD42E0BC5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37085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kumimoji="0" lang="pt-BR" altLang="pt-BR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5F0EB4F-09D5-73C0-0DC9-151A2F63B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25163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 </a:t>
            </a:r>
            <a:endParaRPr kumimoji="0" lang="pt-BR" altLang="pt-B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91735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do">
  <a:themeElements>
    <a:clrScheme name="Facetado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do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do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</TotalTime>
  <Words>827</Words>
  <Application>Microsoft Office PowerPoint</Application>
  <PresentationFormat>Widescreen</PresentationFormat>
  <Paragraphs>67</Paragraphs>
  <Slides>9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Cambria</vt:lpstr>
      <vt:lpstr>Trebuchet MS</vt:lpstr>
      <vt:lpstr>Wingdings 3</vt:lpstr>
      <vt:lpstr>Facetado</vt:lpstr>
      <vt:lpstr>Objetivo </vt:lpstr>
      <vt:lpstr>Objetivos Específicos</vt:lpstr>
      <vt:lpstr>Hardware – Diagrama de blocos</vt:lpstr>
      <vt:lpstr>Hardware - Esquemático</vt:lpstr>
      <vt:lpstr>Hardware - Montagem</vt:lpstr>
      <vt:lpstr>Firmware</vt:lpstr>
      <vt:lpstr>Servidor WEB</vt:lpstr>
      <vt:lpstr>IoT</vt:lpstr>
      <vt:lpstr>Funcionamento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Adriano Filho</dc:creator>
  <cp:lastModifiedBy>Adriano Filho</cp:lastModifiedBy>
  <cp:revision>16</cp:revision>
  <dcterms:created xsi:type="dcterms:W3CDTF">2026-01-24T11:31:21Z</dcterms:created>
  <dcterms:modified xsi:type="dcterms:W3CDTF">2026-01-24T13:23:50Z</dcterms:modified>
</cp:coreProperties>
</file>